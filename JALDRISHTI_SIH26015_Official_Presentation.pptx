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Problem Statement ID : </a:t>
            </a:r>
            <a:r>
              <a:rPr sz="1400" b="1">
                <a:solidFill>
                  <a:srgbClr val="0265D2"/>
                </a:solidFill>
                <a:latin typeface="Calibri"/>
              </a:rPr>
              <a:t>SIH26015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Problem Statement Title : </a:t>
            </a:r>
            <a:r>
              <a:rPr sz="1400" b="1">
                <a:solidFill>
                  <a:srgbClr val="0E8A42"/>
                </a:solidFill>
                <a:latin typeface="Calibri"/>
              </a:rPr>
              <a:t>Watershed Monitoring and Outcome Assessment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Theme : </a:t>
            </a:r>
            <a:r>
              <a:rPr sz="1400" b="1">
                <a:solidFill>
                  <a:srgbClr val="0E8A42"/>
                </a:solidFill>
                <a:latin typeface="Calibri"/>
              </a:rPr>
              <a:t>Agriculture, FoodTech &amp; Rural Development / Clean &amp; Green Technology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PS Category : </a:t>
            </a:r>
            <a:r>
              <a:rPr sz="1400" b="1">
                <a:solidFill>
                  <a:srgbClr val="0E8A42"/>
                </a:solidFill>
                <a:latin typeface="Calibri"/>
              </a:rPr>
              <a:t>Software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Team ID : </a:t>
            </a:r>
            <a:r>
              <a:rPr sz="1400" b="1">
                <a:solidFill>
                  <a:srgbClr val="0E8A42"/>
                </a:solidFill>
                <a:latin typeface="Calibri"/>
              </a:rPr>
              <a:t>[Your Team ID]</a:t>
            </a:r>
          </a:p>
          <a:p>
            <a:pPr>
              <a:spcBef>
                <a:spcPts val="30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Calibri"/>
              </a:rPr>
              <a:t>Team Name : </a:t>
            </a:r>
            <a:r>
              <a:rPr sz="1400" b="1">
                <a:solidFill>
                  <a:srgbClr val="0265D2"/>
                </a:solidFill>
                <a:latin typeface="Calibri"/>
              </a:rPr>
              <a:t>JALDRISHTI (AI + GIS Watershed Intelligence Platform)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8" name="Picture 37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097280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rPr sz="1900" b="1">
                <a:solidFill>
                  <a:srgbClr val="0F172A"/>
                </a:solidFill>
                <a:latin typeface="Calibri"/>
              </a:rPr>
              <a:t>JALDRISHTI: AI + GIS Watershed Intelligence &amp; Field Evidence Platform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00" b="1">
                <a:solidFill>
                  <a:srgbClr val="0265D2"/>
                </a:solidFill>
                <a:latin typeface="Calibri"/>
              </a:rPr>
              <a:t>1. Proposed Solution &amp; Working Prototype Overview: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An end-to-end evidence platform connecting mobile on-ground field photographs, Sentinel-2 multi-spectral Earth observation (10m resolution), and CartoDEM hydrologic terrain models into an auditable statutory workflow for WDC-PMKSY 2.0.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Enforces an unbroken chain of custody: Watershed -&gt; Civil Asset -&gt; Forensic Field Evidence (SHA-256 + GNSS) -&gt; 24-Month Satellite Analytics -&gt; AI Outcome Triage -&gt; Compliance Dossier.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00" b="1">
                <a:solidFill>
                  <a:srgbClr val="0265D2"/>
                </a:solidFill>
                <a:latin typeface="Calibri"/>
              </a:rPr>
              <a:t>2. How It Solves Core Pain Points: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Eliminates Blind Trust in Uploaded Photos: Client-side GNSS geofence filter (&lt;=25m tolerance) and cryptographic SHA-256 hashing prevent geo-spoofing and duplicate photo re-use.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Separates Seasonal Rain from Real Conservation: 24-month multi-temporal trend windowing (Delta-NDVI, Delta-MNDWI, Delta-NDMI) isolates genuine structural water retention from seasonal monsoon rainfall.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Hydrologic Placement Compliance: ISRO CartoDEM automated slope (&lt;3%) and Strahler stream order analysis check if check dams and percolation tanks were built at technically viable drainage axes.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00" b="1">
                <a:solidFill>
                  <a:srgbClr val="0265D2"/>
                </a:solidFill>
                <a:latin typeface="Calibri"/>
              </a:rPr>
              <a:t>3. Key Innovations &amp; Differentiators: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Deterministic Evidence Readiness Score (ERS 0-100): Combines photo sharpness (25%), geofence proximity (20%), temporal freshness (20%), work ID validation (15%), and cloud-free satellite scenes (20%).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Explainable AI with Scientific Integrity: Generates plain-language compliance narratives with explicit caveats distinguishing observational correlation from causal proof.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JALDRISHTI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900" b="1">
                <a:solidFill>
                  <a:srgbClr val="0F172A"/>
                </a:solidFill>
                <a:latin typeface="Calibri"/>
              </a:rPr>
              <a:t>TECHNICAL APPROACH &amp; SYSTEM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00" b="1">
                <a:solidFill>
                  <a:srgbClr val="0265D2"/>
                </a:solidFill>
                <a:latin typeface="Calibri"/>
              </a:rPr>
              <a:t>1. Multi-Tier Technology Stack: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Frontend: React 19, TypeScript, Vite, Tailwind CSS, Lucide Icons, Leaflet GIS &amp; Esri Satellite Layers, Recharts.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Backend &amp; Spatial Engine: FastAPI / Python 3.11, PostgreSQL 15 + PostGIS, Supabase Auth &amp; Storage, Rasterio &amp; Shapely.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Earth Observation &amp; GIS: Copernicus Sentinel-2 L2A (Bands 3, 4, 8, 11), ISRO CartoDEM (30m DEM), OpenStreetMap Nominatim.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00" b="1">
                <a:solidFill>
                  <a:srgbClr val="0265D2"/>
                </a:solidFill>
                <a:latin typeface="Calibri"/>
              </a:rPr>
              <a:t>2. Implementation Pipeline &amp; Unbroken Chain of Custody: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Step 1 (Ground Forensic Capture): Mobile surveyor captures photo with hardware GNSS (L1+L5 +-3m). EXIF extraction validates timestamp, device model, and SHA-256 cryptographic digest.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Step 2 (Autonomous Geofence &amp; Temporal Processing): Backend verifies proximity to planned civil axis (&lt;25m). Triggers automated Sentinel-2 surface reflectance composite across pre/post intervention windows.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Step 3 (Spectral Indexing): Calculates NDVI (Canopy greening), MNDWI (Surface water retention), and NDMI (Subsurface soil moisture).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Step 4 (Triage &amp; Statutory Export): Computes ERS score; routes positive signals to fast-track approval and exceptions (&gt;50m drift) to re-inspection queue; generates MoRD-compliant PDF Dossier.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00" b="1">
                <a:solidFill>
                  <a:srgbClr val="0265D2"/>
                </a:solidFill>
                <a:latin typeface="Calibri"/>
              </a:rPr>
              <a:t>3. Working Prototype Readiness: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Full application operational with national benchmark watersheds across Gujarat, Rajasthan, Maharashtra, Karnataka, Andhra Pradesh, and Uttarakhand with real photographic evidence &amp; live telemetry.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JALDRISHTI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900" b="1">
                <a:solidFill>
                  <a:srgbClr val="0F172A"/>
                </a:solidFill>
                <a:latin typeface="Calibri"/>
              </a:rPr>
              <a:t>FEASIBILITY, RISK ANALYSIS &amp; MITIGATION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00" b="1">
                <a:solidFill>
                  <a:srgbClr val="0265D2"/>
                </a:solidFill>
                <a:latin typeface="Calibri"/>
              </a:rPr>
              <a:t>1. Multi-Dimensional Feasibility Analysis: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Technical Feasibility: Built on open-source, vendor-agnostic standards (Copernicus open satellite data, OpenStreetMap, PostgreSQL/PostGIS). Zero costly proprietary satellite licenses required.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Operational Feasibility: Designed for low-bandwidth rural field operations. Surveyors require minimal training (intuitive point-and-capture interface with offline sync).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Financial &amp; Viability Scalability: Highly cost-effective serverless / microservices architecture easily scalable across all 31 States and Union Territories under WDC-PMKSY 2.0.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00" b="1">
                <a:solidFill>
                  <a:srgbClr val="0265D2"/>
                </a:solidFill>
                <a:latin typeface="Calibri"/>
              </a:rPr>
              <a:t>2. Key Challenges &amp; Technical Risks: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Monsoon Cloud Cover: Heavy cloud obstruction during peak July-August prevents optical Sentinel-2 reflectance retrieval.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GPS Inaccuracy in Deep Valleys &amp; Ridges: Multi-path signal reflection causing apparent 30-60m coordinate drifts in hilly terrain.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Low/No Internet in Remote Tribal Watersheds: Field surveyors cannot connect to cloud APIs during remote ground inspections.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00" b="1">
                <a:solidFill>
                  <a:srgbClr val="0265D2"/>
                </a:solidFill>
                <a:latin typeface="Calibri"/>
              </a:rPr>
              <a:t>3. Concrete Mitigation Strategies: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Multi-Temporal Cloud-Masking Composites: Merges Sentinel-2 scenes across a 90-day post-monsoon temporal window (October-December) to generate 100% cloud-free baseline reflectance.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Terrain-Weighted Geofence Tolerance: Dynamic thresholding adjusting tolerance based on CartoDEM slope gradient (25m on flat plains, up to 45m on steep ridges).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Offline-First IndexedDB Architecture: Field photos, coordinates, and cryptographic hashes stored locally on device and automatically synchronized upon reconnecting.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JALDRISHTI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900" b="1">
                <a:solidFill>
                  <a:srgbClr val="0F172A"/>
                </a:solidFill>
                <a:latin typeface="Calibri"/>
              </a:rPr>
              <a:t>IMPACT, VALUE CREATION &amp; SUSTAINABLE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00" b="1">
                <a:solidFill>
                  <a:srgbClr val="0265D2"/>
                </a:solidFill>
                <a:latin typeface="Calibri"/>
              </a:rPr>
              <a:t>1. Direct Stakeholder Impact: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Ministry of Rural Development (MoRD) &amp; DoLR: Real-time national situation room tracking physical asset completion, fund release verification, and macro watershed impact across India.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District Watershed Development Units (DWDU): Reduces manual inspection backlog by 75% through automated ERS triage (only anomalous assets require physical inspection).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Field Surveyors &amp; Gram Panchayats: Streamlined mobile app provides instantaneous GNSS validation, eliminating repeated re-work and delayed verification approvals.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00" b="1">
                <a:solidFill>
                  <a:srgbClr val="0265D2"/>
                </a:solidFill>
                <a:latin typeface="Calibri"/>
              </a:rPr>
              <a:t>2. Environmental &amp; Ecological Benefits: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Measurable Groundwater Table Rejuvenation: Detects perennial moisture persistence (Delta-NDMI) within 100m buffer of check dams, ponds, and Johads.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Halting Soil Erosion: Verifies continuous contour trenches (CCT) and vegetative bund stabilization on vulnerable ridge slopes using CartoDEM terrain models.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Drought Resilience: Enables early detection of drought-stressed sub-basins, allowing proactive intervention before crop failure.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00" b="1">
                <a:solidFill>
                  <a:srgbClr val="0265D2"/>
                </a:solidFill>
                <a:latin typeface="Calibri"/>
              </a:rPr>
              <a:t>3. Economic, Social &amp; Governance Benefits: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Fiscal Integrity &amp; Transparency: Cryptographic SHA-256 hash and geo-axis audit trail prevent ghost assets and duplicate billing in public works.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Farmer Prosperity &amp; Double-Cropping: Documented water availability enables farmers to transition from single rainfed kharif crops to dual rabi crop cycles, increasing rural incomes by 35-50%.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JALDRISHTI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1900" b="1">
                <a:solidFill>
                  <a:srgbClr val="0F172A"/>
                </a:solidFill>
                <a:latin typeface="Calibri"/>
              </a:rPr>
              <a:t>RESEARCH, STANDARDS &amp; POLICY BENCHMARKS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00" b="1">
                <a:solidFill>
                  <a:srgbClr val="0265D2"/>
                </a:solidFill>
                <a:latin typeface="Calibri"/>
              </a:rPr>
              <a:t>1. Government Policies &amp; Statutory Guidelines: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Department of Land Resources (DoLR), Ministry of Rural Development: Watershed Development Component of Pradhan Mantri Krishi Sinchayee Yojana (WDC-PMKSY 2.0) Guidelines (2021-2026).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Common Guidelines for Watershed Development Projects (National Rainfed Area Authority - NRAA, Government of India).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Ministry of Jal Shakti: National Water Mission &amp; Jal Shakti Abhiyan Operational Protocols.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00" b="1">
                <a:solidFill>
                  <a:srgbClr val="0265D2"/>
                </a:solidFill>
                <a:latin typeface="Calibri"/>
              </a:rPr>
              <a:t>2. Earth Observation, GIS &amp; Technical Standards: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European Space Agency (ESA) Copernicus Sentinel-2 Level-2A Multi-Spectral User Handbook (10m Resolution Surface Reflectance: Bands 3, 4, 8, 11).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ISRO National Remote Sensing Centre (NRSC) Bhuvan Portal: CartoDEM 30m Digital Elevation Model Hydrological Processing Protocols.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Open Geospatial Consortium (OGC) Standards for GeoJSON, Web Map Tile Services (WMTS), and PostGIS Spatial Indexing (R-Tree / GiST).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Xu, H. (2006): 'Modification of Normalized Difference Water Index (MNDWI) to Enhance Open Water Features in Remotely Sensed Imagery', International Journal of Remote Sensing.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sz="1200" b="1">
                <a:solidFill>
                  <a:srgbClr val="0265D2"/>
                </a:solidFill>
                <a:latin typeface="Calibri"/>
              </a:rPr>
              <a:t>3. Field Case Studies &amp; National Benchmarks: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Ralegan Siddhi &amp; Hiware Bazar Watershed Rejuvenation Model (Ahmednagar District, Maharashtra).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Tarun Bharat Sangh (Rajendra Singh): Traditional Johad Water Harvesting System in Arvari River Basin (Alwar, Rajasthan).</a:t>
            </a:r>
          </a:p>
          <a:p>
            <a:pPr lvl="1">
              <a:spcAft>
                <a:spcPts val="200"/>
              </a:spcAft>
            </a:pPr>
            <a:r>
              <a:rPr sz="1050" b="0">
                <a:solidFill>
                  <a:srgbClr val="334155"/>
                </a:solidFill>
                <a:latin typeface="Calibri"/>
              </a:rPr>
              <a:t>• ICAR - Central Research Institute for Dryland Agriculture (CRIDA): Rainfed Agriculture &amp; Farm Pond Technical Reports.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JALDRISHTI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